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spc="160">
                <a:solidFill>
                  <a:srgbClr val="58BDB1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F5F4"/>
                </a:solidFill>
                <a:latin typeface="Bahnschrift"/>
              </a:rPr>
              <a:t>Evidência para uso 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B9C7C7"/>
                </a:solidFill>
                <a:latin typeface="Segoe UI"/>
              </a:rPr>
              <a:t>Contra o que o DisperSim 3D já foi testado, o que ele reproduz e onde ele para.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206240"/>
            <a:ext cx="10634472" cy="10972"/>
          </a:xfrm>
          <a:prstGeom prst="rect">
            <a:avLst/>
          </a:prstGeom>
          <a:solidFill>
            <a:srgbClr val="2C4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8EA3A3"/>
                </a:solidFill>
                <a:latin typeface="Segoe UI"/>
              </a:rPr>
              <a:t>Este dossê foi escrito para ser conferido. Cada número vem de um arquivo de benchmark no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8EA3A3"/>
                </a:solidFill>
                <a:latin typeface="Segoe UI"/>
              </a:rPr>
              <a:t>repositório, e cada arquivo carrega a citação do experimento que codifica. As falhas aparecem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8EA3A3"/>
                </a:solidFill>
                <a:latin typeface="Segoe UI"/>
              </a:rPr>
              <a:t>com o mesmo destaque dos acertos, porque um modelo de consequências com limites não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8EA3A3"/>
                </a:solidFill>
                <a:latin typeface="Segoe UI"/>
              </a:rPr>
              <a:t>documentados não sustenta um caso de segurança.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30">
                <a:solidFill>
                  <a:srgbClr val="6C8182"/>
                </a:solidFill>
                <a:latin typeface="Consolas"/>
              </a:rPr>
              <a:t>REV. 28/08/2026   ·   BRANCH 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RESULTADO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O placar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38528"/>
            <a:ext cx="258775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130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RADIAÇÃO DE INCÊNDIO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05456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2C7A5A"/>
                </a:solidFill>
                <a:latin typeface="Bahnschrift"/>
              </a:rPr>
              <a:t>16</a:t>
            </a:r>
            <a:r>
              <a:rPr sz="1700" b="1">
                <a:solidFill>
                  <a:srgbClr val="5B6A6E"/>
                </a:solidFill>
                <a:latin typeface="Bahnschrift"/>
              </a:rPr>
              <a:t>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64408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Poças de GNL e de hidrocarbonetos de 6 a 80 m, e jatos de gás natural de 2,8 a 19,5 kg/s, todos em escala de campo.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938528"/>
            <a:ext cx="258775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194560"/>
            <a:ext cx="2130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AUTOTESTES NUMÉRICOS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505456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2C7A5A"/>
                </a:solidFill>
                <a:latin typeface="Bahnschrift"/>
              </a:rPr>
              <a:t>271</a:t>
            </a:r>
            <a:r>
              <a:rPr sz="1700" b="1">
                <a:solidFill>
                  <a:srgbClr val="5B6A6E"/>
                </a:solidFill>
                <a:latin typeface="Bahnschrift"/>
              </a:rPr>
              <a:t> / 271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264408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Sete suítes: geometria, tabela de detectores IOGP, persistência, radiação, flash fire, dose térmica e estudo de incêndio.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938528"/>
            <a:ext cx="258775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194560"/>
            <a:ext cx="2130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DISPERSÃO DE GASES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505456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9A6A0C"/>
                </a:solidFill>
                <a:latin typeface="Bahnschrift"/>
              </a:rPr>
              <a:t>17</a:t>
            </a:r>
            <a:r>
              <a:rPr sz="1700" b="1">
                <a:solidFill>
                  <a:srgbClr val="5B6A6E"/>
                </a:solidFill>
                <a:latin typeface="Bahnschrift"/>
              </a:rPr>
              <a:t> / 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264408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Contra o desempenho publicado do FLACS e do PHAST nos mesmos ensaios. Quatro das catorze diferenças são fronteiras de escopo declaradas.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87384" y="1938528"/>
            <a:ext cx="258775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2194560"/>
            <a:ext cx="2130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EXPERIMENTOS CODIFICADOS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2505456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111A1D"/>
                </a:solidFill>
                <a:latin typeface="Bahnschrift"/>
              </a:rPr>
              <a:t>47</a:t>
            </a:r>
            <a:r>
              <a:rPr sz="1700" b="1">
                <a:solidFill>
                  <a:srgbClr val="5B6A6E"/>
                </a:solidFill>
                <a:latin typeface="Bahnschrift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3264408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31 ensaios de dispersão e 16 ensaios de incêndio, cada um com a fonte primária registrada no arquivo.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44568"/>
            <a:ext cx="10634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Os números de incêndio e os autotestes foram reexecutados para este dossê no commit atual de master.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Os números de dispersão vêm da rodada registrada pelo próprio projeto em 16/05/2026 e não foram reexecutados aqui.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O que conta como aprovação, e o que não conta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Um benchmark compara uma previsão com uma medição publicada e verifica se a razão entre as duas cai dentro de uma banda declarada. A banda padrão é a convenção de fator dois usada em toda a modelagem de consequências: razão prevista/medida entre 0,5 e 2,0.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Para dispersão a comparação vai um passo além. Aprovação ali não quer dizer que a previsão bateu com o experimento. Quer dizer que as medidas estatísticas de Hanna ficaram dentro de uma tolerância documentada em relação às que o FLACS ou o PHAST obtiveram no mesmo ensaio.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453128"/>
            <a:ext cx="6035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453128"/>
            <a:ext cx="41148" cy="1417320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654296"/>
            <a:ext cx="5440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C25B00"/>
                </a:solidFill>
                <a:latin typeface="Consolas"/>
              </a:rPr>
              <a:t>FALCON 1, O EXEMPLO MAIS CLARO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965192"/>
            <a:ext cx="5440679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O DisperSim reporta FAC2 = 0,00 e passa, porque a coorte FLACS publicada para Falcon com barreira de vapor também reporta FAC2 = 0,00. Os dois códigos sofrem naquele caso. O benchmark estabelece que o DisperSim não é pior, e nada além disso.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928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11A1D"/>
                </a:solidFill>
                <a:latin typeface="Bahnschrift"/>
              </a:rPr>
              <a:t>Três classes de evidência, mantidas separadas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322576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2322576"/>
            <a:ext cx="36576" cy="1170432"/>
          </a:xfrm>
          <a:prstGeom prst="rect">
            <a:avLst/>
          </a:prstGeom>
          <a:solidFill>
            <a:srgbClr val="14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487168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A1D"/>
                </a:solidFill>
                <a:latin typeface="Bahnschrift"/>
              </a:rPr>
              <a:t>Ensaio de campo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779776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Comparado com medições de um experimento publicado. É a única classe capaz de dizer que o modelo acerta o mundo.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621024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3621024"/>
            <a:ext cx="36576" cy="1170432"/>
          </a:xfrm>
          <a:prstGeom prst="rect">
            <a:avLst/>
          </a:prstGeom>
          <a:solidFill>
            <a:srgbClr val="5B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3785615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A1D"/>
                </a:solidFill>
                <a:latin typeface="Bahnschrift"/>
              </a:rPr>
              <a:t>Autoconsistência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4078224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O motor conferido contra a própria solução analítica. Pega regressão numérica e não prova nada sobre física.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4919472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4919472"/>
            <a:ext cx="36576" cy="1170432"/>
          </a:xfrm>
          <a:prstGeom prst="rect">
            <a:avLst/>
          </a:prstGeom>
          <a:solidFill>
            <a:srgbClr val="5B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5084064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A1D"/>
                </a:solidFill>
                <a:latin typeface="Bahnschrift"/>
              </a:rPr>
              <a:t>Linha de base de regressão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5376672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O motor conferido contra a própria última saída boa conhecida, onde o dado primário é restrito. Nunca apresentada como concordância com um experimento.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Dado que ninguém conferiu nunca é aprovação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400" b="0">
                <a:solidFill>
                  <a:srgbClr val="111A1D"/>
                </a:solidFill>
                <a:latin typeface="Segoe UI"/>
              </a:rPr>
              <a:t>Todo benchmark de incêndio declara um dataConfidence. Um benchmark Unverified é avaliado e impresso, mas o runner o reporta como não contabilizado em vez de aprovado. Um visto verde contra um número que ninguém conferiu é pior do que não ter teste nenhum.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264408"/>
          <a:ext cx="6766558" cy="1463040"/>
        </p:xfrm>
        <a:graphic>
          <a:graphicData uri="http://schemas.openxmlformats.org/drawingml/2006/table">
            <a:tbl>
              <a:tblPr/>
              <a:tblGrid>
                <a:gridCol w="1253066"/>
                <a:gridCol w="4176888"/>
                <a:gridCol w="133660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Nível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Significado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Nos 16 ensaios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C7A5A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Segoe UI"/>
                        </a:rPr>
                        <a:t>Lido de uma tabela na fonte citada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9A6A0C"/>
                          </a:solidFill>
                          <a:latin typeface="Consolas"/>
                        </a:rPr>
                        <a:t>Medium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Segoe UI"/>
                        </a:rPr>
                        <a:t>Lido de uma figura, ou de uma citação secundária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A93226"/>
                          </a:solidFill>
                          <a:latin typeface="Consolas"/>
                        </a:rPr>
                        <a:t>Unverified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Segoe UI"/>
                        </a:rPr>
                        <a:t>Não conferido contra a fonte. Nunca contabilizado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18120" y="1938528"/>
            <a:ext cx="3593592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38528"/>
            <a:ext cx="41148" cy="2971800"/>
          </a:xfrm>
          <a:prstGeom prst="rect">
            <a:avLst/>
          </a:prstGeom>
          <a:solidFill>
            <a:srgbClr val="14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2139696"/>
            <a:ext cx="29992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145E5A"/>
                </a:solidFill>
                <a:latin typeface="Consolas"/>
              </a:rPr>
              <a:t>COMO A SUÍTE RODA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450592"/>
            <a:ext cx="2999232" cy="2276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Cada arquivo .fbench descreve o ensaio em duas metades e o runner pontua as duas separado.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1. Geometria da chama e poder emissivo, que testam as correlações e o balanço de energia.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2. Fluxo incidente nos radiômetros, que testa o fator de forma e a transmissividade em cima delas.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Saber qual metade falhou é a maior parte do conserto.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Poças de GNL: poder emissivo superficial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Raj (2005) Tabela 1  ·  5 ensaios  ·  confiança média  ·  diâmetros de 6 a 36 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ENSAIO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25054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MEDIDO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250545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0,5×   ←  1,0  →   2,0×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0545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RAZÃO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61487"/>
            <a:ext cx="9966959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3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AGA San Clemente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81527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6,1 m  ·  1973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916935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143 a 178 kW/m²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59" y="2953511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7924" y="2907791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58843" y="2971799"/>
            <a:ext cx="45720" cy="109728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916935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A6A0C"/>
                </a:solidFill>
                <a:latin typeface="Consolas"/>
              </a:rPr>
              <a:t>0,72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19856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China Lake, sobre água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15 m  ·  1974 a 1976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447287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220 ± 30 kW/m²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59" y="3483863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7924" y="3438144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42230" y="3502151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447287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50207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Esso Líbia, trincheira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42231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18 m  ·  1969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397763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92 kW/m²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4014215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7924" y="3968496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3833" y="4032503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977639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80559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Maplin Sands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72583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20 m  ·  1980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59" y="4507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150 a 220 kW/m²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59" y="4544568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7924" y="4498848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73833" y="4562855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450799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10912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Montoir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02936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35,7 m  ·  1987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59" y="5038344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257 a 273 kW/m²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59" y="5074920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27924" y="5029200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10043" y="5093207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5038344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0,87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541264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Montoir, comprimento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33288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o único publicado aqui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59" y="5568696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78 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59" y="5605272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27924" y="5559552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10043" y="5623559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5568696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71500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70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A6E"/>
                </a:solidFill>
                <a:latin typeface="Segoe UI"/>
              </a:rPr>
              <a:t>Diâmetros de poça variando seis vezes, poderes emissivos variando três vezes. Todos dentro da banda.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O viés é o achado, não os cinco vistos verdes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38528"/>
            <a:ext cx="4846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30">
                <a:solidFill>
                  <a:srgbClr val="849699"/>
                </a:solidFill>
                <a:latin typeface="Consolas"/>
              </a:rPr>
              <a:t>QUATRO DAS CINCO RAZÕES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32888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C25B00"/>
                </a:solidFill>
                <a:latin typeface="Bahnschrift"/>
              </a:rPr>
              <a:t>0,86 a 0,88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B6A6E"/>
                </a:solidFill>
                <a:latin typeface="Segoe UI"/>
              </a:rPr>
              <a:t>Subestimação sistemática de 13% ao longo de uma variação de seis vezes em diâmetro.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56816"/>
            <a:ext cx="54223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O modelo acompanha como o poder emissivo escala com o diâmetro da poça e então subestima o nível de forma consistente. Isso não é dispersão estatística.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O lugar mais provável para o viés é a fração radiativa χ, que não é reportada nem para Montoir nem para Maplin Sands. 0,25 foi assumido para as duas, e um valor perto de 0,29 colocaria ambas em cima do alvo.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87368"/>
            <a:ext cx="1063447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41148" cy="1783080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288536"/>
            <a:ext cx="10040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C25B00"/>
                </a:solidFill>
                <a:latin typeface="Consolas"/>
              </a:rPr>
              <a:t>NÃO FOI AJUSTADO, DE PROPÓSITO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599432"/>
            <a:ext cx="10040112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Ajustar uma constante a cinco pontos não é validação, e separar χ da correlação de comprimento de chama exige dados de radiômetro que esses cinco ensaios não têm.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Os 13% ficam declarados para quem revisa decidir se importam no caso dele, lembrando que o desvio é conservador para comprimento de chama e não conservador para fluxo.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Poças de hidrocarbonetos fuliginosos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Mudan (1984) Tabela 4  ·  4 ensaios  ·  confiança média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31136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ENSAIO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223113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MEDIDO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223113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0,5×   ←  1,0  →   2,0×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23113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RAZÃO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87168"/>
            <a:ext cx="9966959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15184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Gasolina (Fu)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10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642615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60 a 130 kW/m² máx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59" y="2679191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7924" y="2633472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31328" y="2697479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642615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45536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GLP em terra (Mizner e Eyre)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20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17296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48 kW/m²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59" y="3209544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7924" y="3163824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6858" y="3227832"/>
            <a:ext cx="45720" cy="109728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172968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A6A0C"/>
                </a:solidFill>
                <a:latin typeface="Consolas"/>
              </a:rPr>
              <a:t>0,64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75887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Querosene (JISE)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67911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30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3703320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10 a 25 kW/m² méd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3739896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7924" y="3694176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1192" y="3758183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703320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206240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Querosene (JISE)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98264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80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59" y="423367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10 a 25 kW/m² méd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59" y="4270248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7924" y="4224528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94599" y="4288536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423367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19472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Os dois casos de querosene são o motivo do exercício: a mistura de fuligem achata com o diâmetro do mesmo jeito que as medições, 1,33 aos 30 m caindo para 1,14 aos 80 m, que é a obscuração por fumaça que ela existe para representar.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846320"/>
            <a:ext cx="510235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41148" cy="141732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5047488"/>
            <a:ext cx="4507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9A6A0C"/>
                </a:solidFill>
                <a:latin typeface="Consolas"/>
              </a:rPr>
              <a:t>O ERRO DE 0,64 NO GLP FICOU COMO ESTÁ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5358383"/>
            <a:ext cx="4507992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100" b="0">
                <a:solidFill>
                  <a:srgbClr val="111A1D"/>
                </a:solidFill>
                <a:latin typeface="Segoe UI"/>
              </a:rPr>
              <a:t>A Tabela 2 de Mudan dá uma fração radiativa medida de 7% para esse ensaio, e o balanço de energia puro com ela chega a 47 kW/m² contra 48 medidos. É o teto de fuligem que puxa a previsão para 31.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Jatos de gás natural: comprimento de chama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Miller (2017), casos DNV GL  ·  3 ensaios  ·  confiança 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ENSAIO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25054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MEDIDO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250545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0,5×   ←  1,0  →   2,0×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0545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RAZÃO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61487"/>
            <a:ext cx="9966959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3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2,9 kg/s horizontal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916935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19,8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2953511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7924" y="2907791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7019" y="2971799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916935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46703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9,6 kg/s horizontal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3374135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37,8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59" y="3410711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7924" y="3364991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4216" y="3428999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3374135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19,5 kg/s horizontal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59" y="3831336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49,9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59" y="3867912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7924" y="3822192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12379" y="3886200"/>
            <a:ext cx="45720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3831336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581144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0974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A faixa de vazamento que este projeto atende é de 0,1 a 32 kg/s por orifícios de 1 a 50 mm. Estes três casos ficam dentro dela e cobrem a metade superior.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718304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718304"/>
            <a:ext cx="41148" cy="155448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919472"/>
            <a:ext cx="4507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A93226"/>
                </a:solidFill>
                <a:latin typeface="Consolas"/>
              </a:rPr>
              <a:t>UM DEFEITO ACHADO POR AUTOTESTE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5230368"/>
            <a:ext cx="450799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A correlação de Chamberlain L = 0,2 Q^0,4 recebe a taxa de liberação de calor em quilowatts e estava recebendo watts. Um jato de 2,9 kg/s saía com centenas de metros, 16 vezes o comprimento real.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Jatos de gás natural: fluxo nos radiômetros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Johnson (1994), tabulado por Miller (2017)  ·  4 ensaios, 30 radiômetros  ·  confiança 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ENSAIO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25054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MEDIDO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250545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0,5×   ←  1,0  →   2,0×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0545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00">
                <a:solidFill>
                  <a:srgbClr val="849699"/>
                </a:solidFill>
                <a:latin typeface="Consolas"/>
              </a:rPr>
              <a:t>RAZÃO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61487"/>
            <a:ext cx="9966959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3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Ensaio 1033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81527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7,9 kg/s · 75 mm · 11,1 barg · vento a 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916935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8 radiômetros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59" y="2953511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7924" y="2907791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4688" y="2971799"/>
            <a:ext cx="535106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916935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1,09 a 1,31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19856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Ensaio 1040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2,8 kg/s · 152 mm · 0,3 barg · vento a −23°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447287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7 radiômetros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59" y="3483863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7924" y="3438144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18562" y="3502151"/>
            <a:ext cx="1589227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447287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0,96 a 1,66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50207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Ensaio 1089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42231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3,8 kg/s · 20 mm · 66 barg · vento a −1°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397763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5 radiômetros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4014215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7924" y="3968496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2799" y="4032503"/>
            <a:ext cx="140817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977639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1,39 a 1,46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80559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Ensaio 1083, a jusante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72583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8,4 kg/s · 152 mm · 2,1 barg · vento a 56°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59" y="4507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10 radiômetros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59" y="4544568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7924" y="4498848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5461" y="4562855"/>
            <a:ext cx="305775" cy="1097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450799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C7A5A"/>
                </a:solidFill>
                <a:latin typeface="Consolas"/>
              </a:rPr>
              <a:t>0,63 a 0,70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10912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11A1D"/>
                </a:solidFill>
                <a:latin typeface="Segoe UI"/>
              </a:rPr>
              <a:t>Ensaio 1083, R10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02936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849699"/>
                </a:solidFill>
                <a:latin typeface="Consolas"/>
              </a:rPr>
              <a:t>44 m ao lado da chama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59" y="5038344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A6E"/>
                </a:solidFill>
                <a:latin typeface="Consolas"/>
              </a:rPr>
              <a:t>transversal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59" y="5074920"/>
            <a:ext cx="4023359" cy="146304"/>
          </a:xfrm>
          <a:prstGeom prst="rect">
            <a:avLst/>
          </a:prstGeom>
          <a:solidFill>
            <a:srgbClr val="D6D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27924" y="5029200"/>
            <a:ext cx="14630" cy="237744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43592" y="5093207"/>
            <a:ext cx="45720" cy="109728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5038344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93226"/>
                </a:solidFill>
                <a:latin typeface="Consolas"/>
              </a:rPr>
              <a:t>3,67 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4068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11A1D"/>
                </a:solidFill>
                <a:latin typeface="Segoe UI"/>
              </a:rPr>
              <a:t>O ensaio 1033 é aquele cuja geometria o modelo de fato representa</a:t>
            </a:r>
            <a:r>
              <a:rPr sz="1200" b="0">
                <a:solidFill>
                  <a:srgbClr val="111A1D"/>
                </a:solidFill>
                <a:latin typeface="Segoe UI"/>
              </a:rPr>
              <a:t>, com o vento alinhado ao vazamento, e ele fica dentro de 31% em todos os oito radiômetros. Aí estão o fator de forma, a transmissividade e o poder emissivo concordando com a medição ao mesmo tempo.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LIMITAÇÃO NOMEADA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Onde os outros três degradam, e por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11A1D"/>
                </a:solidFill>
                <a:latin typeface="Segoe UI"/>
              </a:rPr>
              <a:t>Os outros três degradam de um jeito que diz o que está faltando, que é a parte útil.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41448"/>
            <a:ext cx="52120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36576" cy="214884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11A1D"/>
                </a:solidFill>
                <a:latin typeface="Bahnschrift"/>
              </a:rPr>
              <a:t>1089 superestima de 39 a 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É o caso de alta pressão, 66 barg por um furo de 20 mm. Miller registra que o modelo AP Flame superestima esse mesmo ensaio, então é um caso reconhecidamente difícil e não uma peculiaridade desta implementação. Superestimar fluxo é o lado conservador.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441448"/>
            <a:ext cx="52120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441448"/>
            <a:ext cx="36576" cy="214884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5176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11A1D"/>
                </a:solidFill>
                <a:latin typeface="Bahnschrift"/>
              </a:rPr>
              <a:t>1040 e 1083 têm o vento fora do eixo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A 23° e 56° do eixo do vazamento. O modelo inclina uma chama de eixo único na direção do vento e a levanta por empuxo no plano vertical que contém esse eixo, mas não consegue curvá-la lateralmente. Os radiômetros ao longo da chama continuam precisos; os transversais superestimam.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73168"/>
            <a:ext cx="1063447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773168"/>
            <a:ext cx="41148" cy="118872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974336"/>
            <a:ext cx="10040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A93226"/>
                </a:solidFill>
                <a:latin typeface="Consolas"/>
              </a:rPr>
              <a:t>O R10 DO ENSAIO 1083 FICA REPORTADO A 3,67×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285232"/>
            <a:ext cx="1004011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A 44 m do lado da chama, ele é a posição mais exposta exatamente a essa limitação. Alargar a banda de aceitação para deixar a suíte verde jogaria fora uma afirmação verdadeira sobre o modelo.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RADIAÇÃO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Arqueamento por empuxo de jatos horizontais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Miller (2017), equações (19) a (22)  ·  número de Richardson na fonte expandida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Uma chama-jato horizontal não fica no eixo do vazamento. Ela segue reta enquanto o próprio momento domina, e depois o empuxo vira o restante para cima. A divisão entre as duas seções é dada pelo número de Richardson avaliado na fonte expandida e não no furo: um orifício de 20 mm a 66 barg e um de 152 mm a 0,3 barg podem passar a mesma massa e produzir chamas completamente diferentes.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419856"/>
          <a:ext cx="10634471" cy="1847088"/>
        </p:xfrm>
        <a:graphic>
          <a:graphicData uri="http://schemas.openxmlformats.org/drawingml/2006/table">
            <a:tbl>
              <a:tblPr/>
              <a:tblGrid>
                <a:gridCol w="1022545"/>
                <a:gridCol w="1329309"/>
                <a:gridCol w="1942836"/>
                <a:gridCol w="1942836"/>
                <a:gridCol w="439694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Ensaio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A montante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Razões de fluxo antes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Razões de fluxo depois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49699"/>
                          </a:solidFill>
                          <a:latin typeface="Consolas"/>
                        </a:rPr>
                        <a:t>Saldo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1033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11,1 barg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0,96 a 1,18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1,09 a 1,31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Segoe UI"/>
                        </a:rPr>
                        <a:t>um pouco pior, a chama já era quase reta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1040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0,3 barg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0,99 a 1,86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0,96 a 1,66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C7A5A"/>
                          </a:solidFill>
                          <a:latin typeface="Segoe UI"/>
                        </a:rPr>
                        <a:t>melhor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1083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2,1 barg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0,43 a 0,45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0,63 a 0,70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C7A5A"/>
                          </a:solidFill>
                          <a:latin typeface="Segoe UI"/>
                        </a:rPr>
                        <a:t>falha → passa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1089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66 barg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1,28 a 1,43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11A1D"/>
                          </a:solidFill>
                          <a:latin typeface="Consolas"/>
                        </a:rPr>
                        <a:t>1,39 a 1,46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11A1D"/>
                          </a:solidFill>
                          <a:latin typeface="Segoe UI"/>
                        </a:rPr>
                        <a:t>um pouco pior, a chama já era quase reta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294375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Um FireSource sem pressão de estagnação é tratado como subsônico e a chama dele fica reta, então todo projeto salvo antes dessa mudança mantém o comportamento anterior.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POR QUE ISSO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Quatro defeitos que a literatura achou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Uma taxa de aprovação alta diz pouco sozinha. O que sustenta um modelo de consequências em uso industrial é a prova de que a comparação com medições reais consegue reprová-lo, e nenhum destes quatro seria pego por um teste unitário.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962655"/>
            <a:ext cx="25877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172968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spc="100">
                <a:solidFill>
                  <a:srgbClr val="A93226"/>
                </a:solidFill>
                <a:latin typeface="Consolas"/>
              </a:rPr>
              <a:t>ACHADO POR
MONTOIR 35 M GNL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21607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11A1D"/>
                </a:solidFill>
                <a:latin typeface="Bahnschrift"/>
              </a:rPr>
              <a:t>Teto de fuligem em combustível limpo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453127"/>
            <a:ext cx="21854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O teto de Mudan estava sendo aplicado a toda poça. Ele é calibrado em hidrocarbonetos fuliginosos e limita o poder emissivo perto de 22 kW/m². O GNL queima limpo: os ensaios reportam de 165 a 265. O primeiro benchmark previu 21,8 contra 265 medidos.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2962655"/>
            <a:ext cx="25877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172968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spc="100">
                <a:solidFill>
                  <a:srgbClr val="A93226"/>
                </a:solidFill>
                <a:latin typeface="Consolas"/>
              </a:rPr>
              <a:t>ACHADO POR
JOHNSON 1083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3721607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11A1D"/>
                </a:solidFill>
                <a:latin typeface="Bahnschrift"/>
              </a:rPr>
              <a:t>Quem estava na frente recebia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453127"/>
            <a:ext cx="21854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A chama era painelada só na superfície lateral. Um receptor em frente à ponta vê todo painel de perfil ou por trás, e a soma dá exatamente zero. Três radiômetros mediram 4,6, 3,3 e 2,2 kW/m² e o modelo devolvia 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2962655"/>
            <a:ext cx="25877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3172968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spc="100">
                <a:solidFill>
                  <a:srgbClr val="A93226"/>
                </a:solidFill>
                <a:latin typeface="Consolas"/>
              </a:rPr>
              <a:t>ACHADO POR
A COORTE DE GNL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3" y="3721607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11A1D"/>
                </a:solidFill>
                <a:latin typeface="Bahnschrift"/>
              </a:rPr>
              <a:t>Normalização pela área errada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3" y="4453127"/>
            <a:ext cx="21854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Incluir a tampa da ponta na área emissora derrubou o SEP de toda poça em 13% sem física por trás. Os valores publicados são normalizados pela superfície lateral do cilindro, e o modelo agora cita a mesma grandeza que a medição cita.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7384" y="2962655"/>
            <a:ext cx="25877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3172968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spc="100">
                <a:solidFill>
                  <a:srgbClr val="A93226"/>
                </a:solidFill>
                <a:latin typeface="Consolas"/>
              </a:rPr>
              <a:t>ACHADO POR
AUTOTESTE DE CAMPO DISTANTE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721607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11A1D"/>
                </a:solidFill>
                <a:latin typeface="Bahnschrift"/>
              </a:rPr>
              <a:t>Chamas 16 vezes maiores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53127"/>
            <a:ext cx="21854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5B6A6E"/>
                </a:solidFill>
                <a:latin typeface="Segoe UI"/>
              </a:rPr>
              <a:t>A correlação de Chamberlain recebe a taxa de liberação de calor em quilowatts e estava recebendo watts. Um jato de 2,9 kg/s saía com centenas de metros. Esse foi pego por um autoteste, que é no que autoteste é bom.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AUTOCONSISTÊNCIA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Autotestes numéricos: 271 asserções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Estes não estabelecem que a física está certa. Estabelecem que a aritmética, a geometria e a persistência não derivam em silêncio.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31136"/>
          <a:ext cx="10634471" cy="2615184"/>
        </p:xfrm>
        <a:graphic>
          <a:graphicData uri="http://schemas.openxmlformats.org/drawingml/2006/table">
            <a:tbl>
              <a:tblPr/>
              <a:tblGrid>
                <a:gridCol w="2635894"/>
                <a:gridCol w="999822"/>
                <a:gridCol w="4635539"/>
                <a:gridCol w="236321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Suíte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Asserções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O que ela trava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Flag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Geometria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Voxelização, limites de obstáculo, transformações de coordenadas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--geometry-selftest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Tabela de detectores IOGP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Tabela IOGP 434-01 embutida contra os valores publicados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--iogp-selftest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Ida e volta do cenário de incêndio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111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Todo campo de fogo, ignição e estudo sobrevive a salvar e recarregar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--fire-roundtrip-selftest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Radiação de chama sólida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36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Fator de forma contra o limite analítico de fonte pontual, transmissividade, SEP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--solid-flame-selftest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Flash fire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Envelope LFL a UFL, componentes conexas, tempos de chegada da queima geodésica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--flash-fire-selftest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Dose térmica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Integral de dose, probit de fatalidade de Eisenberg, probits de queimadura, a erf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--thermal-dose-selftest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Estudo de incêndio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Pontuação de fontes, ranking de ignições, montagem da cena de fonte única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A6E"/>
                          </a:solidFill>
                          <a:latin typeface="Consolas"/>
                        </a:rPr>
                        <a:t>--fire-study-selftest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111496"/>
            <a:ext cx="1063447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111496"/>
            <a:ext cx="41148" cy="1143000"/>
          </a:xfrm>
          <a:prstGeom prst="rect">
            <a:avLst/>
          </a:prstGeom>
          <a:solidFill>
            <a:srgbClr val="14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312664"/>
            <a:ext cx="10040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145E5A"/>
                </a:solidFill>
                <a:latin typeface="Consolas"/>
              </a:rPr>
              <a:t>UM EXEMPLO DO QUE ELES PEGAM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623560"/>
            <a:ext cx="10040112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A suíte de chama sólida afirma que um cilindro painelado visto de longe converge para o resultado de fonte pontual. A primeira versão dessa afirmação esperava razão 1,0, quando um cilindro visto de lado irradia 4/π ≈ 1,273 vezes o fluxo isotrópico. O teste agora afirma a anisotropia em vez de encobri-la.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ENSAIO DE CAMPO · DISPERSÃO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Dispersão: 17 aprovados em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Rodadas de 16/05/2026 e 31/08/2026  ·  o número só é legível depois de separar as catorze diferenças por causa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31136"/>
          <a:ext cx="10634470" cy="3191256"/>
        </p:xfrm>
        <a:graphic>
          <a:graphicData uri="http://schemas.openxmlformats.org/drawingml/2006/table">
            <a:tbl>
              <a:tblPr/>
              <a:tblGrid>
                <a:gridCol w="3942088"/>
                <a:gridCol w="825088"/>
                <a:gridCol w="825088"/>
                <a:gridCol w="504220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Coorte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Passa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Referência contra a qual a aprovação é medida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Autoconsistência (pluma e sopro gaussianos)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Solução analítica do próprio motor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Prairie Grass, terreno plano, neutro a estável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Coorte FLACS, Hanna e Chang 2004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Campo de GNL: Burro, Coyote, Maplin Sands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Coorte FLACS sem obstrução, Hansen 2010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Falcon, GNL com barreira de vapor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Coorte FLACS Falcon, Hansen 2010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SF₆ em túnel de vento sobre rampa (DAT632)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Linha de base de regressão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MUST, arranjo urbano de 120 obstáculos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Linha de base de regressão (dado por ensaio é restrito)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Jatos no FluidX3D: CH₄, CO₂, H₂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C7A5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Linhas de base de regressão e Witlox 2014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Gás denso no OpenFOAM: Thorney Island, Kit Fox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A0C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Coortes FLACS Hansen 2010 e Hanna 2004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A6E"/>
                          </a:solidFill>
                          <a:latin typeface="Segoe UI"/>
                        </a:rPr>
                        <a:t>Gás denso no motor gaussiano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A0C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B6A6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A6E"/>
                          </a:solidFill>
                          <a:latin typeface="Segoe UI"/>
                        </a:rPr>
                        <a:t>Fora de escopo por declaração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175504"/>
            <a:ext cx="1063447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175504"/>
            <a:ext cx="41148" cy="105156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376672"/>
            <a:ext cx="10040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2C7A5A"/>
                </a:solidFill>
                <a:latin typeface="Consolas"/>
              </a:rPr>
              <a:t>ONDE O DISPERSIM É MELHOR QUE A 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687568"/>
            <a:ext cx="10040112" cy="356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O desempenho publicado do FLACS em Falcon com barreira de vapor é FAC2 = 0,00, MG = 5,56, VG = 23,65. O DisperSim chega a FAC2 = 1,00 em Falcon 3 e Falcon 4, com MG de 1,40 e 1,26.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FRONTEIRA DO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As treze diferenças, separadas por causa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9A6A0C"/>
                </a:solidFill>
                <a:latin typeface="Segoe UI"/>
              </a:rPr>
              <a:t>Seis fronteiras de escopo declaradas. </a:t>
            </a:r>
            <a:r>
              <a:rPr sz="1150" b="0">
                <a:solidFill>
                  <a:srgbClr val="111A1D"/>
                </a:solidFill>
                <a:latin typeface="Segoe UI"/>
              </a:rPr>
              <a:t>Rodam o motor gaussiano contra física de gás denso que ele nunca foi feito para conter, e ficam na suíte de propósito.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596896"/>
          <a:ext cx="5212080" cy="22860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Ensaio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Física ausente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Kit Fox U5-2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Gás denso em arranjo de obstáculos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Desert Tortoise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Aerossol e rainout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Thorney Island 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Espalhamento gravitacional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Jack Rabbit I, 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Saída de depressão de terreno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Jack Rabbit II, 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Arranjo urbano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Jack Rabbit II, 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Campo distante, erra log MG por 0,03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9632" y="1938528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93226"/>
                </a:solidFill>
                <a:latin typeface="Segoe UI"/>
              </a:rPr>
              <a:t>Sete limitações reais em aberto. </a:t>
            </a:r>
            <a:r>
              <a:rPr sz="1150" b="0">
                <a:solidFill>
                  <a:srgbClr val="111A1D"/>
                </a:solidFill>
                <a:latin typeface="Segoe UI"/>
              </a:rPr>
              <a:t>Duas são decisões apertadas contra tolerância apertada; três são o Scₜ de fábrica; duas são física ausente.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2596896"/>
          <a:ext cx="5212080" cy="2615184"/>
        </p:xfrm>
        <a:graphic>
          <a:graphicData uri="http://schemas.openxmlformats.org/drawingml/2006/table">
            <a:tbl>
              <a:tblPr/>
              <a:tblGrid>
                <a:gridCol w="1920240"/>
                <a:gridCol w="777240"/>
                <a:gridCol w="777240"/>
                <a:gridCol w="17373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Ensaio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MRB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FAC2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Erro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Prairie Grass 7 (B)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−0,69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|MRB| por 0,01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Prairie Grass 11 (C)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|MRB| por 0,04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Burro 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0,67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MG por 0,23, Scₜ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Coyote 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0,76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FAC2 por 0,04, Scₜ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Maplin Sands 27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1,41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11A1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Scₜ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CO2PipeHaz 6 mm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849699"/>
                          </a:solidFill>
                          <a:latin typeface="Consolas"/>
                        </a:rPr>
                        <a:t>n/d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849699"/>
                          </a:solidFill>
                          <a:latin typeface="Consolas"/>
                        </a:rPr>
                        <a:t>n/d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Sem modelo bifásico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Jato de H₂ (Schefer)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849699"/>
                          </a:solidFill>
                          <a:latin typeface="Consolas"/>
                        </a:rPr>
                        <a:t>n/d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849699"/>
                          </a:solidFill>
                          <a:latin typeface="Consolas"/>
                        </a:rPr>
                        <a:t>n/d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Sem dado por sensor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001768"/>
            <a:ext cx="106344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O caso do hidrogênio é contabilidade honesta: o motor roda limpo e produz uma nuvem plausível, mas não foi encontrado dado publicado por sensor para aquele vazamento, então a comparação no arquivo não tem autoridade e ela é reportada como falha em vez de ser afrouxada em silêncio.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RESULTADO NEGATIVO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O Schmidt turbulento, e um resultado registrado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As três falhas de GNL no OpenFOAM são casos em que Vu (2019) chega a FAC2 = 1,00 com um solver próprio. A receita foi implementada e medida no Coyote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31136"/>
          <a:ext cx="10634469" cy="1847088"/>
        </p:xfrm>
        <a:graphic>
          <a:graphicData uri="http://schemas.openxmlformats.org/drawingml/2006/table">
            <a:tbl>
              <a:tblPr/>
              <a:tblGrid>
                <a:gridCol w="4583824"/>
                <a:gridCol w="1100117"/>
                <a:gridCol w="1100117"/>
                <a:gridCol w="1100117"/>
                <a:gridCol w="275029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699"/>
                          </a:solidFill>
                          <a:latin typeface="Consolas"/>
                        </a:rPr>
                        <a:t>Pilha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699"/>
                          </a:solidFill>
                          <a:latin typeface="Consolas"/>
                        </a:rPr>
                        <a:t>MRB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699"/>
                          </a:solidFill>
                          <a:latin typeface="Consolas"/>
                        </a:rPr>
                        <a:t>FAC2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699"/>
                          </a:solidFill>
                          <a:latin typeface="Consolas"/>
                        </a:rPr>
                        <a:t>MG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699"/>
                          </a:solidFill>
                          <a:latin typeface="Consolas"/>
                        </a:rPr>
                        <a:t>Veredito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11A1D"/>
                          </a:solidFill>
                          <a:latin typeface="Segoe UI"/>
                        </a:rPr>
                        <a:t>rhoReactingBuoyantFoam de fábrica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0,76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2,30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A6E"/>
                          </a:solidFill>
                          <a:latin typeface="Segoe UI"/>
                        </a:rPr>
                        <a:t>linha de base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11A1D"/>
                          </a:solidFill>
                          <a:latin typeface="Segoe UI"/>
                        </a:rPr>
                        <a:t>+ solver corrigido com Scₜ = 0,15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2,15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6A0C"/>
                          </a:solidFill>
                          <a:latin typeface="Segoe UI"/>
                        </a:rPr>
                        <a:t>pior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11A1D"/>
                          </a:solidFill>
                          <a:latin typeface="Segoe UI"/>
                        </a:rPr>
                        <a:t>+ refino de malha, 3 caixas alinhadas ao vento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1,44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6,37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A93226"/>
                          </a:solidFill>
                          <a:latin typeface="Segoe UI"/>
                        </a:rPr>
                        <a:t>muito pior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11A1D"/>
                          </a:solidFill>
                          <a:latin typeface="Segoe UI"/>
                        </a:rPr>
                        <a:t>+ precursor de CLA, 500 iterações SIMPLE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1,78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11A1D"/>
                          </a:solidFill>
                          <a:latin typeface="Consolas"/>
                        </a:rPr>
                        <a:t>17,75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93226"/>
                          </a:solidFill>
                          <a:latin typeface="Segoe UI"/>
                        </a:rPr>
                        <a:t>muito pior de novo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315968"/>
            <a:ext cx="1063447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315968"/>
            <a:ext cx="41148" cy="160020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517136"/>
            <a:ext cx="10040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40">
                <a:solidFill>
                  <a:srgbClr val="A93226"/>
                </a:solidFill>
                <a:latin typeface="Consolas"/>
              </a:rPr>
              <a:t>TODA MODIFICAÇÃO DEGRADOU A PREVISÃO DE FORMA MONOTÔNICA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828031"/>
            <a:ext cx="10040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A linha de base daqui já subestima onde a de Vu superestima, então as mudanças dela, que amplificam difusão, empurram no sentido errado para este pipeline.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>
                <a:solidFill>
                  <a:srgbClr val="111A1D"/>
                </a:solidFill>
                <a:latin typeface="Segoe UI"/>
              </a:rPr>
              <a:t>Os três flags existem na configuração e os três estão desligados por padrão, com esta tabela como motivo. A diferença que sobra é atribuída a algo a montante do solver, provavelmente a condição de contorno da fonte, e essa auditoria é trabalho em aberto.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LEIA ANTES DE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Limitações declaradas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B6A6E"/>
                </a:solidFill>
                <a:latin typeface="Segoe UI"/>
              </a:rPr>
              <a:t>Um modelo de consequências serve para uso industrial quando se sabe onde ele vale. Este é o envelope atual, escrito sem rodeio.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9424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9424"/>
            <a:ext cx="32004" cy="91440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36829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Curvatura lateral da chama pelo vento não é modelada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706624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Receptores ao lado da chama são superestimados, com 3,67× na pior posição do Johnson 1083. Conservador para locação, mas não preciso.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36976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32004" cy="91440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35584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Subestimação sistemática de 13% no poder emissivo de poças de GNL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69417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Consistente ao longo de uma faixa de seis vezes em diâmetro. Não ajustada, por escolha.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24528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24528"/>
            <a:ext cx="32004" cy="91440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343400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Não há modelo bifásico, de aerossol nem de rainout na dispersão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468172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Amônia, CO₂ supercrítico e outros vazamentos com flash estão fora do envelope validado.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12080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212080"/>
            <a:ext cx="32004" cy="91440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5330952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O motor gaussiano não serve para gás denso, obstáculos ou depressões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5669280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Seis benchmarks documentam isso e falham de propósito.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2249424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2249424"/>
            <a:ext cx="32004" cy="91440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236829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A mistura de fuligem não está calibrada para GLP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5" y="2706624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A 20 m ela subestima em 36%, e o balanço de energia sem o teto é a resposta melhor para esse combustível.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1" y="3236976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1" y="3236976"/>
            <a:ext cx="32004" cy="91440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5" y="335584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O rhoReactingBuoyantFoam de fábrica fixa Scₜ = 1,0 no código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5" y="369417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Afeta três benchmarks de GNL. Existe um binário corrigido, desligado por padrão.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1" y="4224528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1" y="4224528"/>
            <a:ext cx="32004" cy="914400"/>
          </a:xfrm>
          <a:prstGeom prst="rect">
            <a:avLst/>
          </a:prstGeom>
          <a:solidFill>
            <a:srgbClr val="9A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5" y="4343400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11A1D"/>
                </a:solidFill>
                <a:latin typeface="Bahnschrift"/>
              </a:rPr>
              <a:t>O tracer em GPU roda em precisão simples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5" y="468172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5B6A6E"/>
                </a:solidFill>
                <a:latin typeface="Segoe UI"/>
              </a:rPr>
              <a:t>Em jato sônico o erro de FP32 chega de 15 a 25% na linha de centro. Use a CPU onde a precisão de campo próximo governa.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REPRODUTIBILIDADE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11A1D"/>
                </a:solidFill>
                <a:latin typeface="Bahnschrift"/>
              </a:rPr>
              <a:t>Como reproduzir cada número deste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11A1D"/>
                </a:solidFill>
                <a:latin typeface="Segoe UI"/>
              </a:rPr>
              <a:t>As definições de benchmark são texto puro no repositório e o runner faz parte da CLI distribuída. Nada aqui depende de uma build da máquina dos autores nem de um conjunto de dados privado. Código de saída 0 significa que toda métrica caiu dentro da banda de aceitação declarada.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52928"/>
            <a:ext cx="6309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--validate-fire benchmarks/fire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--validate      benchmarks/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--geometry-selftest          # 19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--iogp-selftest              # 27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--fire-roundtrip-selftest    # 111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--solid-flame-selftest       # 36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--flash-fire-selftest        # 17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--thermal-dose-selftest      # 29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11A1D"/>
                </a:solidFill>
                <a:latin typeface="Consolas"/>
              </a:rPr>
              <a:t>DisperSim3D.CLI --fire-study-selftest        #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1938528"/>
          <a:ext cx="4005072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263347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>Ambiente da rodada registrada</a:t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49699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3E8E7"/>
                    </a:solidFill>
                    <a:lnB w="9525" cap="flat" cmpd="sng" algn="ctr">
                      <a:solidFill>
                        <a:srgbClr val="CDD6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Data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16/05/2026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i9-13900KF, 24C / 32T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GPU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RTX 5070 + RTX 3060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Runtime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.NET 10.0.300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OpenFOAM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v2512 nativo, v2412 WSL2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A1D"/>
                          </a:solidFill>
                          <a:latin typeface="Segoe UI"/>
                        </a:rPr>
                        <a:t>FluidX3D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A1D"/>
                          </a:solidFill>
                          <a:latin typeface="Consolas"/>
                        </a:rPr>
                        <a:t>build CUDA nativo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DDE3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4315968"/>
            <a:ext cx="4005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B6A6E"/>
                </a:solidFill>
                <a:latin typeface="Segoe UI"/>
              </a:rPr>
              <a:t>Cada arquivo .dsbench e .fbench guarda as condições, a meteorologia, as posições dos sensores, os valores observados, a banda de aceitação e a citação da fonte primária com a tabela ou figura de onde os números vieram.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A6E"/>
                </a:solidFill>
                <a:latin typeface="Segoe UI"/>
              </a:rPr>
              <a:t>O empacotamento é construído e assinado continuamente para Windows, Debian e macOS a partir do mesmo commit que roda estes benchmarks.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A1D"/>
                </a:solidFill>
                <a:latin typeface="Bahnschrift"/>
              </a:rPr>
              <a:t>Literatura: incêndio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A6E"/>
                </a:solidFill>
                <a:latin typeface="Segoe UI"/>
              </a:rPr>
              <a:t>Experimentos primários, modelos, correlações e compilações de dados.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907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Johnson, A.D., Brightwell, H.M., Carsley, A.J. (1994). Thermal radiation hazards from large scale horizontal natural gas jet fires. Hazards XII, IChemE.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Ensaios 1033, 1040, 1083, 1089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Nedelka, D., Moorhouse, J., Tucker, R.F. (1989). The Montoir 35 m diameter LNG pool fire experiments.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Montoir 35,7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Raj, P.K., Atallah, S. (1974). AGA San Clemente LNG fire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AGA San Clemente 6,1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Raj, P.K. et al. (1979). USCG China Lake LNG spill and fire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China Lake 15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827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Mizner, G.A., Eyre, J.A. (1983). Large-scale LNG and LPG pool fires.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25696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Maplin Sands 20 m; GLP 20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2686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31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May, W.G., McQueen, W. (1973). Esso LNG trench fire tests, Libya.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5604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Esso Líbia 18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5721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435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Miller, D. (2017). New model for predicting thermal radiation from flares and high pressure jet fires. Process Safety Progress 36(3). DOI 10.1002/prs.11867.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8640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Fonte expandida, forma da chama, tabelas Johnson, DNV GL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7385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Mudan, K.S. (1984). Thermal radiation hazards from hydrocarbon pool fires. Prog. Energy Combust. Sci. 10(1), 59-80.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01675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Tabela 4 e Tabela 2, correlação de fuligem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Raj, P.K. (2005). Large LNG fire thermal radiation, modeling issues and hazard criteria revisited. Proc. Safety Prog. 24(3), 192-202.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Tabela 1, as cinco poças de GNL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Wang, C.J., Wen, J.X., Chen, Z.B. (2014). Simulation of large-scale LNG pool fires using FireFOAM. Comb. Sci. Tech. 186(10-11).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Comprimento de Montoir, Figura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Thomas, P.H. (1963). The size of flames from natural fires. 9th Symposium on Combustion, 844-859.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Comprimento de chama de poça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Chamberlain, G.A. (1987). Developments in design methods for predicting thermal radiation from flares. Chem. Eng. Res. Des. 65, 299-309.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Comprimento de chama-jato, Richardson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09651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0827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Pietersen, C.M., Huerta, S.C. (1985). Analysis of the LPG incident in San Juan Ixhuatepec. TNO 85-0222.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4425696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Transmissividade atmosférica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462686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46131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Eisenberg, N.A., Lynch, C.J., Breeding, R.J. (1975). Vulnerability model. US Coast Guard CG-D-136-75.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1112" y="495604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Probit de fatalidade por dose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15721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1112" y="51435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Abramowitz, M., Stegun, I.A. (1964). Handbook of Mathematical Functions, eq. 7.1.26.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548640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Função erro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A1D"/>
                </a:solidFill>
                <a:latin typeface="Bahnschrift"/>
              </a:rPr>
              <a:t>Literatura: dispersão, experimentos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A6E"/>
                </a:solidFill>
                <a:latin typeface="Segoe UI"/>
              </a:rPr>
              <a:t>Ensaios de campo e de túnel de vento codificados na suíte.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907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Barad, M.L. (1958). Project Prairie Grass. AFCRL-TR-58-235.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Corridas 7, 11, 22, 29,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Koopman, R.P. et al. (1982). Burro series data report. LLNL UCID-19075.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Burro 3, 5, 6, 7, 8,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Goldwire, H.C. et al. (1983). Coyote series data report. LLNL UCID-19953.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Coyote 3 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Goldwire, H.C. et al. (1985). Desert Tortoise series data report. LLNL UCID-20562.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Ensaio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827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Brown, T.C. et al. (1990). Falcon series data report. GRI-89/0138.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25696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Falcon 1, 3,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2686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31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Puttock, J.S., Blackmore, D.R., Colenbrander, G.W. (1982). Field experiments on dense gas dispersion. J. Haz. Mat. 6, 13-41.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5604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Maplin Sands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5721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435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Roebuck, B. (1983). Thorney Island trials, spill 008. HSE Sheffield.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8640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Thorney Island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7385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Biltoft, C.A. (2001). Mock Urban Setting Test. DPG WDTC-FR-01-121. Com Yee e Biltoft (2004).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01675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MUST 11, 120 obstáculos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Hanna, S.R., Britter, R., Argenta, E., Chang, J. (2012). The Jack Rabbit chlorine release experiments. J. Haz. Mat. 213-214, 406-412.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Jack Rabbit I,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Mazzola, T., Hanna, S., Chang, J. et al. (2021). Comparisons of 17 dense gas models to Jack Rabbit II. Atmos. Env. 244, 117887.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Jack Rabbit II 1 e 7; referência PHAST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Witlox, H.W.M., Harper, M., Oke, A. (2012). Phast validation against BP DF1 CO₂ experiments. IChemE Hazards XXIII 158; estendido em Witlox et al. (2014).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Spadeadam DF1 Teste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Gant, S.E., Kelsey, A., McNally, K., Witlox, H.W.M., Bilio, M. (2014). Multi-phase atmospheric dispersion models for CCS. JLPPI 32, 286-298.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INERIS CO2PipeHaz 6 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09651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0827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Gant, S.E., Ivings, M.J. (2005). CFD modelling of low pressure jets for area classification. HSL/2005/13.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4425696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Jato sônico de metano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462686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46131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Schefer, R.W., Houf, W.G., Williams, T.C. (2008). Small-scale unintended releases of hydrogen. Int. J. Hydrogen Energy 33(21), 6373-6384.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1112" y="495604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H₂ a 207 bar por 1,91 mm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15721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1112" y="51435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Mack, A., Spruijt, M.P.N. (2013). Validation of OpenFOAM for heavy gas dispersion. J. Haz. Mat. 250-251, 1-14.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548640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DAT632, SF₆ sobre rampa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145E5A"/>
                </a:solidFill>
                <a:latin typeface="Consolas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A1D"/>
                </a:solidFill>
                <a:latin typeface="Bahnschrift"/>
              </a:rPr>
              <a:t>Literatura: dispersão, referência e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A6E"/>
                </a:solidFill>
                <a:latin typeface="Segoe UI"/>
              </a:rPr>
              <a:t>Desempenho publicado dos códigos comerciais, o método estatístico e as correlações do motor.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9072"/>
            <a:ext cx="10634472" cy="10972"/>
          </a:xfrm>
          <a:prstGeom prst="rect">
            <a:avLst/>
          </a:prstGeom>
          <a:solidFill>
            <a:srgbClr val="CD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Hansen, O.R., Gavelli, F., Ichard, M., Davis, S.G. (2010). Validation of FLACS for LNG vapor dispersion. JLPPI 23, 857-877.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Coortes FLACS sem obstrução e Falcon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Hanna, S.R., Hansen, O.R., Dharmavaram, S. (2004). FLACS CFD performance with Kit Fox, MUST, Prairie Grass, EMU. Atmos. Env. 38, 4675-4687.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Coortes Prairie Grass e MUST; Kit Fox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Chang, J.C., Hanna, S.R. (2004). Air quality model performance evaluation. Met. Atmos. Phys. 87, 167-196.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MRB, RMSE, NMSE, FAC2, MG, 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Vu, T.L. (2019). On numerical modelling of atmospheric gas dispersion using CFD approach. Tese, NTU Singapura.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Scₜ = 0,15, malha, precursor de CLA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975104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19613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Briggs, G.A. (1973). Diffusion estimation for small emissions. NOAA ATDL No. 79.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304288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Ajustes de σy e σz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505456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4917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Slade, D.H., ed. (1968). Meteorology and Atomic Energy. USAEC TID-24190.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834640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Coeficientes de sopro instantâneo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035808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30220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Birch, A.D., Brown, D.R., Dodson, M.G., Swaffield, F. (1984). High pressure jets of natural gas. Comb. Sci. Tech. 36, 249-261.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36499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Fonte expandida em jato sônico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566160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49699"/>
                </a:solidFill>
                <a:latin typeface="Consolas"/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5524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111A1D"/>
                </a:solidFill>
                <a:latin typeface="Segoe UI"/>
              </a:rPr>
              <a:t>IOGP (2018). Fire and explosion protection: detection systems. Relatório 434-01.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3895344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>
                <a:solidFill>
                  <a:srgbClr val="849699"/>
                </a:solidFill>
                <a:latin typeface="Consolas"/>
              </a:rPr>
              <a:t>Tabela de detectores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DISPERSIM 3D  ·  DOSSÊ DE VALIDAÇÃO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327648"/>
            <a:ext cx="1810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spc="120">
                <a:solidFill>
                  <a:srgbClr val="849699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spc="160">
                <a:solidFill>
                  <a:srgbClr val="58BDB1"/>
                </a:solidFill>
                <a:latin typeface="Consolas"/>
              </a:rPr>
              <a:t>O QUE ESTE DOSSÊ SUSTENTA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2F5F4"/>
                </a:solidFill>
                <a:latin typeface="Bahnschrift"/>
              </a:rPr>
              <a:t>47 experimentos de campo,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2F5F4"/>
                </a:solidFill>
                <a:latin typeface="Bahnschrift"/>
              </a:rPr>
              <a:t>271 asserções, 38 fontes.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14800"/>
            <a:ext cx="10634472" cy="10972"/>
          </a:xfrm>
          <a:prstGeom prst="rect">
            <a:avLst/>
          </a:prstGeom>
          <a:solidFill>
            <a:srgbClr val="2C4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500" b="0">
                <a:solidFill>
                  <a:srgbClr val="B9C7C7"/>
                </a:solidFill>
                <a:latin typeface="Segoe UI"/>
              </a:rPr>
              <a:t>Todo número rastreia até um arquivo de benchmark no repositório, e todo arquivo carrega a citação do experimento que codifica.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500" b="0">
                <a:solidFill>
                  <a:srgbClr val="B9C7C7"/>
                </a:solidFill>
                <a:latin typeface="Segoe UI"/>
              </a:rPr>
              <a:t>As falhas estão aqui com o mesmo destaque dos acertos, e o envelope de aplicação está escrito.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spc="130">
                <a:solidFill>
                  <a:srgbClr val="6C8182"/>
                </a:solidFill>
                <a:latin typeface="Consolas"/>
              </a:rPr>
              <a:t>DISPERSIM 3D   ·   28/08/2026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